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7931E"/>
                </a:solidFill>
                <a:latin typeface="Calibri"/>
              </a:defRPr>
            </a:pPr>
            <a:r>
              <a:t>BTC/USD Price Prediction with News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Does FinBERT news sentiment improve next-day return prediction</a:t>
            </a:r>
            <a:br/>
            <a:r>
              <a:t>over a technical-only baseline?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Machine Learning Project  | 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7931E"/>
                </a:solidFill>
                <a:latin typeface="Calibri"/>
              </a:defRPr>
            </a:pPr>
            <a:r>
              <a:t>[Student Name(s) &amp; ID(s) - UPDATE THIS]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Research Question</a:t>
            </a:r>
          </a:p>
          <a:p>
            <a:pPr>
              <a:spcBef>
                <a:spcPts val="6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Can lagged FinBERT news sentiment improve</a:t>
            </a:r>
            <a:br/>
            <a:r>
              <a:t>next-day BTC/USD log-return prediction</a:t>
            </a:r>
            <a:br/>
            <a:r>
              <a:t>vs. a technical-indicator-only model?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2000" b="1">
                <a:solidFill>
                  <a:srgbClr val="4EC9B0"/>
                </a:solidFill>
                <a:latin typeface="Calibri"/>
              </a:defRPr>
            </a:pPr>
            <a:r>
              <a:t>Approach: Two-Stage Model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Stage 1 (Model A): LightGBM trained on 5 years</a:t>
            </a:r>
            <a:br/>
            <a:r>
              <a:t>of 16 technical indicators (RSI, MACD, Bollinger</a:t>
            </a:r>
            <a:br/>
            <a:r>
              <a:t>Bands, moving averages, volatility, volume, etc.)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Stage 2 (Model B): ElasticNet trained on the last</a:t>
            </a:r>
            <a:br/>
            <a:r>
              <a:t>65 days to correct Model A's residuals using 11</a:t>
            </a:r>
            <a:br/>
            <a:r>
              <a:t>FinBERT sentiment features from crypto news</a:t>
            </a:r>
          </a:p>
          <a:p>
            <a:pPr>
              <a:spcBef>
                <a:spcPts val="600"/>
              </a:spcBef>
              <a:defRPr sz="1500" b="1">
                <a:solidFill>
                  <a:srgbClr val="F7931E"/>
                </a:solidFill>
                <a:latin typeface="Calibri"/>
              </a:defRPr>
            </a:pPr>
            <a:r>
              <a:t>Final Prediction = Model A + Model B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Pipeline Architecture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1:  Load OHLCV data + collect news articles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2:  Engineer 16 technical + 11 sentiment features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3:  Score headlines with FinBERT transformer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4:  Train LightGBM (Model A) on technicals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5:  Extract residuals, train ElasticNet (Model B)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6:  Walk-forward evaluation with expanding window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Step 7:  Backtest with stop-loss / take-profit rules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Datasets &amp;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Dataset A: BTC/USD OHLCV (Investing.com)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1,827 daily rows: Apr 2021 - Apr 2026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Columns: Date, Price, Open, High, Low, Volume</a:t>
            </a:r>
          </a:p>
          <a:p>
            <a:pPr>
              <a:spcBef>
                <a:spcPts val="600"/>
              </a:spcBef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Source: investing.com/crypto/bitcoin/historical-data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Dataset B: Crypto News (RSS + Pre-scraped)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75 days of news coverage (Jan - Apr 2026)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Sources: CoinDesk, CoinTelegraph, Decrypt,</a:t>
            </a:r>
            <a:br/>
            <a:r>
              <a:t>Bitcoin Magazine, CryptoSlate, The Block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Scored with ProsusAI/FinBERT transformer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External Signals (Optional)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Google Trends: bitcoin, btc, bitcoin price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Fear &amp; Greed Index (Alternative.me)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Feature Groups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Technical (16 features - Model A):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log_return, return_lag1, hl_spread, oc_spread</a:t>
            </a:r>
            <a:br/>
            <a:r>
              <a:t>vol_log, volume_change_pct, obv_change_pct</a:t>
            </a:r>
            <a:br/>
            <a:r>
              <a:t>price_vs_sma20/50/200, rsi_14, macd_hist</a:t>
            </a:r>
            <a:br/>
            <a:r>
              <a:t>bband_pos, atr_pct, vol_10d, vol_30d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Sentiment (11 features - Model B):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sentiment_mean/std/max/min/count</a:t>
            </a:r>
            <a:br/>
            <a:r>
              <a:t>positive_ratio, negative_ratio, sentiment_range</a:t>
            </a:r>
            <a:br/>
            <a:r>
              <a:t>sentiment_mom_3d/7d, bull_bear_ratio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E05E5E"/>
                </a:solidFill>
                <a:latin typeface="Calibri"/>
              </a:defRPr>
            </a:pPr>
            <a:r>
              <a:t>Leakage Control: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All external features lagged by 1 day</a:t>
            </a:r>
            <a:br/>
            <a:r>
              <a:t>Last 65 days held out from Model A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Model A: LightGBM Regressor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Target: next-day log return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Training: 1,762 rows (excl. 65-day news window)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Validation: 5-fold TimeSeriesSplit (no shuffle)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Early stopping: patience=50 iterations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Hyperparameters: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learning_rate=0.05, max_depth=4, num_leaves=15</a:t>
            </a:r>
            <a:br/>
            <a:r>
              <a:t>subsample=0.8, colsample=0.8</a:t>
            </a:r>
            <a:br/>
            <a:r>
              <a:t>reg_alpha=0.01, reg_lambda=0.01</a:t>
            </a:r>
            <a:br/>
            <a:r>
              <a:t>min_child_samples=10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Cross-Validation Results: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Mean CV RMSE: 0.0263 +/- 0.0056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Model B: ElasticNet (Residual Corrector)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Target: Model A residuals (what A got wrong)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Training: 64 rows with actual news coverage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CV: TimeSeriesSplit (2-3 folds, auto-tuned)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Why ElasticNet?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Only 64 samples = needs strong regularization</a:t>
            </a:r>
            <a:br/>
            <a:r>
              <a:t>L1 (Lasso): automatic feature selection</a:t>
            </a:r>
            <a:br/>
            <a:r>
              <a:t>L2 (Ridge): handles correlated sentiment features</a:t>
            </a:r>
            <a:br/>
            <a:r>
              <a:t>ElasticNetCV auto-tunes alpha &amp; l1_ratio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Result:</a:t>
            </a:r>
          </a:p>
          <a:p>
            <a:pPr>
              <a:spcBef>
                <a:spcPts val="6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Best alpha=0.032, l1_ratio=0.90</a:t>
            </a:r>
          </a:p>
          <a:p>
            <a:pPr>
              <a:spcBef>
                <a:spcPts val="600"/>
              </a:spcBef>
              <a:defRPr sz="1500" b="0">
                <a:solidFill>
                  <a:srgbClr val="E05E5E"/>
                </a:solidFill>
                <a:latin typeface="Calibri"/>
              </a:defRPr>
            </a:pPr>
            <a:r>
              <a:t>Non-zero sentiment features: 0 / 11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Sentiment was fully regularized to zero</a:t>
            </a:r>
            <a:br/>
            <a:r>
              <a:t>(too few news samples for signal to emerge)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Evaluation: Predicted vs Actual Returns</a:t>
            </a:r>
          </a:p>
        </p:txBody>
      </p:sp>
      <p:pic>
        <p:nvPicPr>
          <p:cNvPr id="3" name="Picture 2" descr="btc_two_stage_evaluation_twostage_light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7992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Model Comparison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Walk-Forward Evaluation (last 50 days after 15-day warm-up)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7931E"/>
                </a:solidFill>
                <a:latin typeface="Courier New"/>
              </a:defRPr>
            </a:pPr>
            <a:r>
              <a:t>Metric                         Model A (Tech Only)    Ensemble (A+B)        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RMSE                           0.024682               0.025206              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MAE                            0.019022               0.019406              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Direction Accuracy             46.00%                 50.00%                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Dir.Acc Lift                   --                     +4.0 pp         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Ablation Study: Feature Set Comparison (all LightGBM)</a:t>
            </a:r>
          </a:p>
          <a:p>
            <a:pPr>
              <a:spcBef>
                <a:spcPts val="600"/>
              </a:spcBef>
              <a:defRPr sz="1400" b="1">
                <a:solidFill>
                  <a:srgbClr val="F7931E"/>
                </a:solidFill>
                <a:latin typeface="Courier New"/>
              </a:defRPr>
            </a:pPr>
            <a:r>
              <a:t>Variant                      Features   RMSE       Dir.Acc    Backtest Return 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A0: Tech Only                16         0.0334     43.1%      -4.62%          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A1: Tech + Sentiment         27         0.0334     43.1%      -4.62%          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A2: Tech + Trends            20         0.0338     44.6%      -7.08%          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A3: Tech + FGI               18         0.0335     41.5%      -7.78%          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ourier New"/>
              </a:defRPr>
            </a:pPr>
            <a:r>
              <a:t>A4: Tech + All               33         0.0343     43.1%      -7.14%          </a:t>
            </a:r>
          </a:p>
          <a:p>
            <a:pPr>
              <a:spcBef>
                <a:spcPts val="600"/>
              </a:spcBef>
              <a:defRPr sz="1300" b="0">
                <a:solidFill>
                  <a:srgbClr val="4EC9B0"/>
                </a:solidFill>
                <a:latin typeface="Courier New"/>
              </a:defRPr>
            </a:pPr>
            <a:r>
              <a:t>Two-Stage (A+B)              27         0.0252     50.0%      +0.88%          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A1 vs A0 sentiment lift: 0.00 pp (sentiment adds nothing in single-stage LightGBM)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Two-Stage ensemble is the only profitable strategy (+0.88% vs Buy&amp;Hold +6.97%)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Backtest: Equity Curves</a:t>
            </a:r>
          </a:p>
        </p:txBody>
      </p:sp>
      <p:pic>
        <p:nvPicPr>
          <p:cNvPr id="3" name="Picture 2" descr="btc_backtest_equity_curve_twostage_lightgb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2708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440" y="914400"/>
            <a:ext cx="47548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Backtest Summary (50 days)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Stop-Loss: -2%  |  Take-Profit: +4%</a:t>
            </a: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Trading Fee: 0.1% per trade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569CD6"/>
                </a:solidFill>
                <a:latin typeface="Calibri"/>
              </a:defRPr>
            </a:pPr>
            <a:r>
              <a:t>Model A (Tech Only)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Return: -4.62%  |  49 trades  |  Win: 42.9%</a:t>
            </a:r>
            <a:br/>
            <a:r>
              <a:t>Sharpe: -0.52  |  Max DD: -13.3%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Ensemble (A+B)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Return: +0.88%  |  3 trades  |  Win: 33.3%</a:t>
            </a:r>
            <a:br/>
            <a:r>
              <a:t>Sharpe: +0.51  |  Max DD: -2.8%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CCCCCC"/>
                </a:solidFill>
                <a:latin typeface="Calibri"/>
              </a:defRPr>
            </a:pPr>
            <a:r>
              <a:t>Buy &amp; Hold BTC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Return: +6.97%  |  Sharpe: +1.07</a:t>
            </a:r>
            <a:br/>
            <a:r>
              <a:t>Max DD: -11.9%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4EC9B0"/>
                </a:solidFill>
                <a:latin typeface="Calibri"/>
              </a:defRPr>
            </a:pPr>
            <a:r>
              <a:t>Key Insight: Ensemble trades rarely (3 vs 49)</a:t>
            </a:r>
            <a:br/>
            <a:r>
              <a:t>but avoids large losses. Conservative but</a:t>
            </a:r>
            <a:br/>
            <a:r>
              <a:t>risk-managed.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7931E"/>
                </a:solidFill>
                <a:latin typeface="Calibri"/>
              </a:defRPr>
            </a:pPr>
            <a:r>
              <a:t>Improved Model: Direction Classifier + Confidence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3 Key Improvements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7931E"/>
                </a:solidFill>
                <a:latin typeface="Calibri"/>
              </a:defRPr>
            </a:pPr>
            <a:r>
              <a:t>1. Direction Classification (not regression)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Predict UP or DOWN instead of exact return.</a:t>
            </a:r>
            <a:br/>
            <a:r>
              <a:t>Trading decisions only need direction, not</a:t>
            </a:r>
            <a:br/>
            <a:r>
              <a:t>magnitude. Simpler, more learnable task.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7931E"/>
                </a:solidFill>
                <a:latin typeface="Calibri"/>
              </a:defRPr>
            </a:pPr>
            <a:r>
              <a:t>2. Single-Stage Model (tech + sentiment)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Train ONE model on ALL 1,762 rows with both</a:t>
            </a:r>
            <a:br/>
            <a:r>
              <a:t>feature types. LightGBM handles sparse</a:t>
            </a:r>
            <a:br/>
            <a:r>
              <a:t>sentiment naturally (tree-based splits).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700" b="1">
                <a:solidFill>
                  <a:srgbClr val="F7931E"/>
                </a:solidFill>
                <a:latin typeface="Calibri"/>
              </a:defRPr>
            </a:pPr>
            <a:r>
              <a:t>3. Confidence Threshold Trading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Only trade when P(up) &gt;= threshold.</a:t>
            </a:r>
            <a:br/>
            <a:r>
              <a:t>Filters low-conviction signals, dramatically</a:t>
            </a:r>
            <a:br/>
            <a:r>
              <a:t>reduces bad trades.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Threshold Analysis (Tech + Sentiment)</a:t>
            </a:r>
          </a:p>
          <a:p>
            <a:pPr>
              <a:spcBef>
                <a:spcPts val="600"/>
              </a:spcBef>
              <a:defRPr sz="1500" b="1">
                <a:solidFill>
                  <a:srgbClr val="F7931E"/>
                </a:solidFill>
                <a:latin typeface="Courier New"/>
              </a:defRPr>
            </a:pPr>
            <a:r>
              <a:t> Threshold   Trades   Accuracy       F1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       50%       65      60.0%    0.552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ourier New"/>
              </a:defRPr>
            </a:pPr>
            <a:r>
              <a:t>       52%       36      52.8%    0.485</a:t>
            </a:r>
          </a:p>
          <a:p>
            <a:pPr>
              <a:spcBef>
                <a:spcPts val="600"/>
              </a:spcBef>
              <a:defRPr sz="1400" b="0">
                <a:solidFill>
                  <a:srgbClr val="4EC9B0"/>
                </a:solidFill>
                <a:latin typeface="Courier New"/>
              </a:defRPr>
            </a:pPr>
            <a:r>
              <a:t>       55%       10      70.0%    0.769</a:t>
            </a:r>
          </a:p>
          <a:p>
            <a:pPr>
              <a:spcBef>
                <a:spcPts val="600"/>
              </a:spcBef>
              <a:defRPr sz="1400" b="0">
                <a:solidFill>
                  <a:srgbClr val="4EC9B0"/>
                </a:solidFill>
                <a:latin typeface="Courier New"/>
              </a:defRPr>
            </a:pPr>
            <a:r>
              <a:t>       58%        4      75.0%    0.857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0">
                <a:solidFill>
                  <a:srgbClr val="4EC9B0"/>
                </a:solidFill>
                <a:latin typeface="Calibri"/>
              </a:defRPr>
            </a:pPr>
            <a:r>
              <a:t>Key insight: at 55% threshold, accuracy jumps</a:t>
            </a:r>
            <a:br/>
            <a:r>
              <a:t>from 60% to 70% while trading only 10/65 days.</a:t>
            </a:r>
            <a:br/>
            <a:r>
              <a:t>Quality over quantity.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At 58% threshold: 75% accuracy, F1=0.857</a:t>
            </a:r>
            <a:br/>
            <a:r>
              <a:t>(only 4 trades but very high conviction)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Improved Backtest Results</a:t>
            </a:r>
          </a:p>
        </p:txBody>
      </p:sp>
      <p:pic>
        <p:nvPicPr>
          <p:cNvPr id="3" name="Picture 2" descr="improved_equ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29024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914400"/>
            <a:ext cx="4572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Strategy Comparison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569CD6"/>
                </a:solidFill>
                <a:latin typeface="Calibri"/>
              </a:defRPr>
            </a:pPr>
            <a:r>
              <a:t>Old: Tech Regression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Return: -20.4%  |  64 trades</a:t>
            </a:r>
            <a:br/>
            <a:r>
              <a:t>Sharpe: -2.35  |  Max DD: -25.7%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E05E5E"/>
                </a:solidFill>
                <a:latin typeface="Calibri"/>
              </a:defRPr>
            </a:pPr>
            <a:r>
              <a:t>New: Classifier (50% threshold)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Return: -2.6%  |  29 trades</a:t>
            </a:r>
            <a:br/>
            <a:r>
              <a:t>Sharpe: -0.30  |  Max DD: -9.3%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F7931E"/>
                </a:solidFill>
                <a:latin typeface="Calibri"/>
              </a:defRPr>
            </a:pPr>
            <a:r>
              <a:t>New: Classifier (55% threshold)</a:t>
            </a:r>
          </a:p>
          <a:p>
            <a:pPr>
              <a:spcBef>
                <a:spcPts val="600"/>
              </a:spcBef>
              <a:defRPr sz="1300" b="0">
                <a:solidFill>
                  <a:srgbClr val="4EC9B0"/>
                </a:solidFill>
                <a:latin typeface="Calibri"/>
              </a:defRPr>
            </a:pPr>
            <a:r>
              <a:t>Return: +6.51%  |  8 trades</a:t>
            </a:r>
            <a:br/>
            <a:r>
              <a:t>Sharpe: +1.67  |  Max DD: -4.4%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CCCCCC"/>
                </a:solidFill>
                <a:latin typeface="Calibri"/>
              </a:defRPr>
            </a:pPr>
            <a:r>
              <a:t>Buy &amp; Hold BTC</a:t>
            </a:r>
          </a:p>
          <a:p>
            <a:pPr>
              <a:spcBef>
                <a:spcPts val="6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Return: -6.1%  |  Sharpe: -0.20</a:t>
            </a:r>
            <a:br/>
            <a:r>
              <a:t>Max DD: -17.0%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4EC9B0"/>
                </a:solidFill>
                <a:latin typeface="Calibri"/>
              </a:defRPr>
            </a:pPr>
            <a:r>
              <a:t>55% threshold BEATS Buy &amp; Hold:</a:t>
            </a:r>
          </a:p>
          <a:p>
            <a:pPr>
              <a:spcBef>
                <a:spcPts val="600"/>
              </a:spcBef>
              <a:defRPr sz="1400" b="0">
                <a:solidFill>
                  <a:srgbClr val="4EC9B0"/>
                </a:solidFill>
                <a:latin typeface="Calibri"/>
              </a:defRPr>
            </a:pPr>
            <a:r>
              <a:t>+6.51% vs -6.10%</a:t>
            </a:r>
            <a:br/>
            <a:r>
              <a:t>Sharpe 1.67 vs -0.20</a:t>
            </a:r>
            <a:br/>
            <a:r>
              <a:t>Max DD -4.4% vs -17.0%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1">
                <a:solidFill>
                  <a:srgbClr val="F7931E"/>
                </a:solidFill>
                <a:latin typeface="Calibri"/>
              </a:defRPr>
            </a:pPr>
            <a:r>
              <a:t>Improvement: +26.95 pp over old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Feature Importance: Direction Classifier</a:t>
            </a:r>
          </a:p>
        </p:txBody>
      </p:sp>
      <p:pic>
        <p:nvPicPr>
          <p:cNvPr id="3" name="Picture 2" descr="improved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5435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91440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Top Drivers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7931E"/>
                </a:solidFill>
                <a:latin typeface="Calibri"/>
              </a:defRPr>
            </a:pPr>
            <a:r>
              <a:t>Most important features: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1. return_lag1 (37) - yesterday's return</a:t>
            </a:r>
            <a:br/>
            <a:r>
              <a:t>2. price_vs_sma20 (30) - trend position</a:t>
            </a:r>
            <a:br/>
            <a:r>
              <a:t>3. obv_change_pct (24) - volume flow</a:t>
            </a:r>
            <a:br/>
            <a:r>
              <a:t>4. vol_10d (18) - short-term volatility</a:t>
            </a:r>
            <a:br/>
            <a:r>
              <a:t>5. volume_change_pct (18) - volume shift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E05E5E"/>
                </a:solidFill>
                <a:latin typeface="Calibri"/>
              </a:defRPr>
            </a:pPr>
            <a:r>
              <a:t>Sentiment features: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sentiment_mom_7d, sentiment_mean,</a:t>
            </a:r>
            <a:br/>
            <a:r>
              <a:t>sentiment_std, sentiment_max</a:t>
            </a:r>
            <a:br/>
            <a:r>
              <a:t>all show near-zero importance.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CCCCCC"/>
                </a:solidFill>
                <a:latin typeface="Calibri"/>
              </a:defRPr>
            </a:pPr>
            <a:r>
              <a:t>Why? Only 72/1,827 days have real news.</a:t>
            </a:r>
            <a:br/>
            <a:r>
              <a:t>96% of rows have zero/forward-filled</a:t>
            </a:r>
            <a:br/>
            <a:r>
              <a:t>sentiment = no signal for tree splits.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4EC9B0"/>
                </a:solidFill>
                <a:latin typeface="Calibri"/>
              </a:defRPr>
            </a:pPr>
            <a:r>
              <a:t>Conclusion: The improvement comes from</a:t>
            </a:r>
            <a:br/>
            <a:r>
              <a:t>classification + confidence threshold,</a:t>
            </a:r>
            <a:br/>
            <a:r>
              <a:t>not from sentiment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What We Learned /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Key Findings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Direction classification + confidence threshold</a:t>
            </a:r>
            <a:br/>
            <a:r>
              <a:t>is the key breakthrough: +6.51% return, Sharpe</a:t>
            </a:r>
            <a:br/>
            <a:r>
              <a:t>1.67, beating Buy &amp; Hold (-6.1%)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Confidence threshold is critical: at 55%,</a:t>
            </a:r>
            <a:br/>
            <a:r>
              <a:t>accuracy jumps from 60% to 70% by filtering</a:t>
            </a:r>
            <a:br/>
            <a:r>
              <a:t>out low-conviction predictions (8 vs 64 trades)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Sentiment adds NO value in any model config</a:t>
            </a:r>
            <a:br/>
            <a:r>
              <a:t>(A1 = A0 exactly, feature importance near zero)</a:t>
            </a:r>
            <a:br/>
            <a:r>
              <a:t>due to sparse news coverage (72/1,827 days)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Max drawdown dramatically improved:</a:t>
            </a:r>
            <a:br/>
            <a:r>
              <a:t>-4.4% (new) vs -25.7% (old regression)</a:t>
            </a:r>
            <a:br/>
            <a:r>
              <a:t>vs -17.0% (Buy &amp; Hold)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Improvement of +26.95 pp over old regression</a:t>
            </a:r>
            <a:br/>
            <a:r>
              <a:t>model (-20.4% to +6.51%) by changing the</a:t>
            </a:r>
            <a:br/>
            <a:r>
              <a:t>problem framing, not the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5E5E"/>
                </a:solidFill>
                <a:latin typeface="Calibri"/>
              </a:defRPr>
            </a:pPr>
            <a:r>
              <a:t>Limitations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News coverage too sparse: 72 out of 1,827 days</a:t>
            </a:r>
            <a:br/>
            <a:r>
              <a:t>means sentiment features have near-zero impact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FinBERT was pretrained on financial text, but</a:t>
            </a:r>
            <a:br/>
            <a:r>
              <a:t>crypto-specific slang may not score well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Short backtest window (65 days) makes</a:t>
            </a:r>
            <a:br/>
            <a:r>
              <a:t>performance metrics statistically unreliable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transaction cost modeling beyond flat 0.1% fee;</a:t>
            </a:r>
            <a:br/>
            <a:r>
              <a:t>slippage, spread, and market impact are ignored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High confidence threshold (55%+) trades very</a:t>
            </a:r>
            <a:br/>
            <a:r>
              <a:t>rarely (8 out of 65 days) - small sample size</a:t>
            </a:r>
            <a:br/>
            <a:r>
              <a:t>for statistical significance</a:t>
            </a:r>
          </a:p>
          <a:p>
            <a:pPr>
              <a:spcBef>
                <a:spcPts val="12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Model may be overfitting to recent regime;</a:t>
            </a:r>
            <a:br/>
            <a:r>
              <a:t>needs longer out-of-sample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7931E"/>
                </a:solidFill>
                <a:latin typeface="Calibri"/>
              </a:defRPr>
            </a:pPr>
            <a:r>
              <a:t>Summary &amp;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9B0"/>
                </a:solidFill>
                <a:latin typeface="Calibri"/>
              </a:defRPr>
            </a:pPr>
            <a:r>
              <a:t>Answer to Research Question</a:t>
            </a:r>
          </a:p>
          <a:p>
            <a:pPr>
              <a:spcBef>
                <a:spcPts val="600"/>
              </a:spcBef>
              <a:defRPr sz="1800" b="1">
                <a:solidFill>
                  <a:srgbClr val="E05E5E"/>
                </a:solidFill>
                <a:latin typeface="Calibri"/>
              </a:defRPr>
            </a:pPr>
            <a:r>
              <a:t>Sentiment does NOT improve prediction (A1 = A0, feature importance near zero).</a:t>
            </a:r>
          </a:p>
          <a:p>
            <a:pPr>
              <a:spcBef>
                <a:spcPts val="600"/>
              </a:spcBef>
              <a:defRPr sz="1700" b="0">
                <a:solidFill>
                  <a:srgbClr val="4EC9B0"/>
                </a:solidFill>
                <a:latin typeface="Calibri"/>
              </a:defRPr>
            </a:pPr>
            <a:r>
              <a:t>However, switching from regression to direction classification with a 55%</a:t>
            </a:r>
            <a:br/>
            <a:r>
              <a:t>confidence threshold produces +6.51% return (Sharpe 1.67), beating Buy &amp; Hold (-6.1%).</a:t>
            </a:r>
            <a:br/>
            <a:r>
              <a:t>Improvement of +26.95 pp over the original regression model.</a:t>
            </a:r>
          </a:p>
          <a:p>
            <a:pPr>
              <a:spcBef>
                <a:spcPts val="600"/>
              </a:spcBef>
              <a:defRPr sz="1600" b="0">
                <a:solidFill>
                  <a:srgbClr val="CCCCCC"/>
                </a:solidFill>
                <a:latin typeface="Calibri"/>
              </a:defRPr>
            </a:pPr>
            <a:r>
              <a:t>The breakthrough is problem framing (classification + confidence filtering),</a:t>
            </a:r>
            <a:br/>
            <a:r>
              <a:t>not the features. Sentiment needs denser news coverage (72/1,827 days is too sparse).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Predictions / Future Work</a:t>
            </a:r>
          </a:p>
          <a:p>
            <a:pPr>
              <a:spcBef>
                <a:spcPts val="10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More news sources (Twitter/Reddit) could</a:t>
            </a:r>
            <a:br/>
            <a:r>
              <a:t>provide daily coverage for all trading days</a:t>
            </a:r>
          </a:p>
          <a:p>
            <a:pPr>
              <a:spcBef>
                <a:spcPts val="10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Multi-day horizons (3-5 day returns) would</a:t>
            </a:r>
            <a:br/>
            <a:r>
              <a:t>reduce noise in the target variable</a:t>
            </a:r>
          </a:p>
          <a:p>
            <a:pPr>
              <a:spcBef>
                <a:spcPts val="10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Adaptive threshold: adjust confidence cutoff</a:t>
            </a:r>
            <a:br/>
            <a:r>
              <a:t>based on market volatility regime</a:t>
            </a:r>
          </a:p>
          <a:p>
            <a:pPr>
              <a:spcBef>
                <a:spcPts val="1000"/>
              </a:spcBef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Longer out-of-sample test (6-12 months)</a:t>
            </a:r>
            <a:br/>
            <a:r>
              <a:t>to validate the 55% threshold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41148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B0"/>
                </a:solidFill>
                <a:latin typeface="Calibri"/>
              </a:defRPr>
            </a:pPr>
            <a:r>
              <a:t>Data Sources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BTC/USD OHLCV: investing.com</a:t>
            </a:r>
            <a:br/>
            <a:r>
              <a:t>  /crypto/bitcoin/historical-data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News: CoinDesk, CoinTelegraph, Decrypt,</a:t>
            </a:r>
            <a:br/>
            <a:r>
              <a:t>  Bitcoin Magazine, CryptoSlate, The Block (RSS)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Sentiment Model: ProsusAI/FinBERT</a:t>
            </a:r>
            <a:br/>
            <a:r>
              <a:t>  (HuggingFace transformers)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Fear &amp; Greed: alternative.me API</a:t>
            </a:r>
          </a:p>
          <a:p>
            <a:pPr>
              <a:spcBef>
                <a:spcPts val="800"/>
              </a:spcBef>
              <a:defRPr sz="1300" b="0">
                <a:solidFill>
                  <a:srgbClr val="FFFFFF"/>
                </a:solidFill>
                <a:latin typeface="Calibri"/>
              </a:defRPr>
            </a:pPr>
            <a:r>
              <a:t>Google Trends: pytrends library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7931E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Code &amp; data available on request</a:t>
            </a:r>
            <a:br/>
            <a:r>
              <a:t>[GitHub/OneDrive link - UPDATE THIS]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